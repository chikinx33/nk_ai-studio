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710465246f4074" /><Relationship Type="http://schemas.openxmlformats.org/officeDocument/2006/relationships/extended-properties" Target="/docProps/app.xml" Id="R2f85f93925c34861" /><Relationship Type="http://schemas.openxmlformats.org/officeDocument/2006/relationships/officeDocument" Target="/ppt/presentation.xml" Id="R16ac69ebb09d44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0fa6dd1b144f37"/>
  </p:sldMasterIdLst>
  <p:notesMasterIdLst>
    <p:notesMasterId xmlns:r="http://schemas.openxmlformats.org/officeDocument/2006/relationships" r:id="R7228351f71154a36"/>
  </p:notesMasterIdLst>
  <p:sldIdLst>
    <p:sldId xmlns:r="http://schemas.openxmlformats.org/officeDocument/2006/relationships" id="256" r:id="R49dd46a5aaf14322"/>
    <p:sldId xmlns:r="http://schemas.openxmlformats.org/officeDocument/2006/relationships" id="257" r:id="R22a12d35cd2244fe"/>
    <p:sldId xmlns:r="http://schemas.openxmlformats.org/officeDocument/2006/relationships" id="258" r:id="Rf799a0e8430b4f8a"/>
    <p:sldId xmlns:r="http://schemas.openxmlformats.org/officeDocument/2006/relationships" id="259" r:id="R38e4b154388f4a3e"/>
    <p:sldId xmlns:r="http://schemas.openxmlformats.org/officeDocument/2006/relationships" id="260" r:id="R55ea94f71afe4e82"/>
    <p:sldId xmlns:r="http://schemas.openxmlformats.org/officeDocument/2006/relationships" id="261" r:id="R3e196d0218ab4f98"/>
    <p:sldId xmlns:r="http://schemas.openxmlformats.org/officeDocument/2006/relationships" id="262" r:id="R1d16b17601324fae"/>
    <p:sldId xmlns:r="http://schemas.openxmlformats.org/officeDocument/2006/relationships" id="263" r:id="R13a3a3f0a10a4f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3a3802421e47fc" /><Relationship Type="http://schemas.openxmlformats.org/officeDocument/2006/relationships/slideMaster" Target="/ppt/slideMasters/slideMaster1.xml" Id="R090fa6dd1b144f37" /><Relationship Type="http://schemas.openxmlformats.org/officeDocument/2006/relationships/notesMaster" Target="/ppt/notesMasters/notesMaster1.xml" Id="R7228351f71154a36" /><Relationship Type="http://schemas.openxmlformats.org/officeDocument/2006/relationships/presProps" Target="/ppt/presProps.xml" Id="Rf25ebde352bc4275" /><Relationship Type="http://schemas.openxmlformats.org/officeDocument/2006/relationships/tableStyles" Target="/ppt/tableStyles.xml" Id="Rd8e276a8e9ff4513" /><Relationship Type="http://schemas.openxmlformats.org/officeDocument/2006/relationships/slide" Target="/ppt/slides/slide1.xml" Id="R49dd46a5aaf14322" /><Relationship Type="http://schemas.openxmlformats.org/officeDocument/2006/relationships/slide" Target="/ppt/slides/slide2.xml" Id="R22a12d35cd2244fe" /><Relationship Type="http://schemas.openxmlformats.org/officeDocument/2006/relationships/slide" Target="/ppt/slides/slide3.xml" Id="Rf799a0e8430b4f8a" /><Relationship Type="http://schemas.openxmlformats.org/officeDocument/2006/relationships/slide" Target="/ppt/slides/slide4.xml" Id="R38e4b154388f4a3e" /><Relationship Type="http://schemas.openxmlformats.org/officeDocument/2006/relationships/slide" Target="/ppt/slides/slide5.xml" Id="R55ea94f71afe4e82" /><Relationship Type="http://schemas.openxmlformats.org/officeDocument/2006/relationships/slide" Target="/ppt/slides/slide6.xml" Id="R3e196d0218ab4f98" /><Relationship Type="http://schemas.openxmlformats.org/officeDocument/2006/relationships/slide" Target="/ppt/slides/slide7.xml" Id="R1d16b17601324fae" /><Relationship Type="http://schemas.openxmlformats.org/officeDocument/2006/relationships/slide" Target="/ppt/slides/slide8.xml" Id="R13a3a3f0a10a4f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94a240aa7649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52477124644f96" /><Relationship Type="http://schemas.openxmlformats.org/officeDocument/2006/relationships/notesMaster" Target="/ppt/notesMasters/notesMaster1.xml" Id="Rcb3eadd9737f49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1327514bb047bd" /><Relationship Type="http://schemas.openxmlformats.org/officeDocument/2006/relationships/notesMaster" Target="/ppt/notesMasters/notesMaster1.xml" Id="Rf68b03586e214c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07c7b58f8f4ee8" /><Relationship Type="http://schemas.openxmlformats.org/officeDocument/2006/relationships/notesMaster" Target="/ppt/notesMasters/notesMaster1.xml" Id="R87552abcbcc54b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a46a3dbaf146cc" /><Relationship Type="http://schemas.openxmlformats.org/officeDocument/2006/relationships/notesMaster" Target="/ppt/notesMasters/notesMaster1.xml" Id="R431ff590446744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e6ac861b1c4a97" /><Relationship Type="http://schemas.openxmlformats.org/officeDocument/2006/relationships/notesMaster" Target="/ppt/notesMasters/notesMaster1.xml" Id="R518c344c7aaf43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690a0360f24470" /><Relationship Type="http://schemas.openxmlformats.org/officeDocument/2006/relationships/notesMaster" Target="/ppt/notesMasters/notesMaster1.xml" Id="R735f47cd3fc044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b096a1598f481c" /><Relationship Type="http://schemas.openxmlformats.org/officeDocument/2006/relationships/notesMaster" Target="/ppt/notesMasters/notesMaster1.xml" Id="Rf0ce5e337a9148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de934dd33941ab" /><Relationship Type="http://schemas.openxmlformats.org/officeDocument/2006/relationships/notesMaster" Target="/ppt/notesMasters/notesMaster1.xml" Id="Ra02cb2595b2c4b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NK AI Studio AI Company production UI, https://nkstudio.org/ai-company/, captured 2026-08-08</a:t>
            </a:r>
          </a:p>
          <a:p xmlns:a="http://schemas.openxmlformats.org/drawingml/2006/main">
            <a:r>
              <a:t>- prototype/functions/api/agent/_orchestrator.ts — 11-agent roster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NK AI Studio AI Company production dashboard, captured 2026-08-08</a:t>
            </a:r>
          </a:p>
          <a:p xmlns:a="http://schemas.openxmlformats.org/drawingml/2006/main">
            <a:r>
              <a:t>- ai-company-app/src/components/Sidebar.tsx and RightMenu.tsx</a:t>
            </a:r>
          </a:p>
          <a:p xmlns:a="http://schemas.openxmlformats.org/drawingml/2006/main">
            <a:r>
              <a:t>- prototype/functions/api/agent/_orchestrator.ts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docs/ai-company-skills-master-plan.md — two input modes, one work engine</a:t>
            </a:r>
          </a:p>
          <a:p xmlns:a="http://schemas.openxmlformats.org/drawingml/2006/main">
            <a:r>
              <a:t>- ai-company-app/src/lib/skillJobs.ts — invocation modes and persistent job state</a:t>
            </a:r>
          </a:p>
          <a:p xmlns:a="http://schemas.openxmlformats.org/drawingml/2006/main">
            <a:r>
              <a:t>- NK AI Studio AI Company production UI captures, 2026-08-08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prototype/functions/api/agent/_orchestrator.ts — Core, Sync, Radar, Edge, Reach, Maki, Plot, Ink, Pixel, Engi, Beat roles</a:t>
            </a:r>
          </a:p>
          <a:p xmlns:a="http://schemas.openxmlformats.org/drawingml/2006/main">
            <a:r>
              <a:t>- ai-company-app/src/components/Sidebar.tsx and production Employee Management UI, captured 2026-08-08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ai-company-app/src/lib/companySkills.ts — only infographic is available; five artifact classes</a:t>
            </a:r>
          </a:p>
          <a:p xmlns:a="http://schemas.openxmlformats.org/drawingml/2006/main">
            <a:r>
              <a:t>- ai-company-app/src/lib/skillJobs.ts — standard statuses, versions, lineage, cost and approval state</a:t>
            </a:r>
          </a:p>
          <a:p xmlns:a="http://schemas.openxmlformats.org/drawingml/2006/main">
            <a:r>
              <a:t>- docs/ai-company-skills-master-plan.md — ten common quality gates</a:t>
            </a:r>
          </a:p>
          <a:p xmlns:a="http://schemas.openxmlformats.org/drawingml/2006/main">
            <a:r>
              <a:t>- NK AI Studio production Company Skill UI, captured 2026-08-08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docs/ai-company-skills-master-plan.md — approvals, cost visibility and quality gates</a:t>
            </a:r>
          </a:p>
          <a:p xmlns:a="http://schemas.openxmlformats.org/drawingml/2006/main">
            <a:r>
              <a:t>- docs/ai-company-phase0-skill-platform-design.md — persistent PostgreSQL jobs and artifact lineage</a:t>
            </a:r>
          </a:p>
          <a:p xmlns:a="http://schemas.openxmlformats.org/drawingml/2006/main">
            <a:r>
              <a:t>- prototype/tests/company-skill-jobs-contract.test.mjs and agent-ui-control.test.mjs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ai-company-app/src/lib/companySkills.ts — seven categories, 32 catalog skills, availability states</a:t>
            </a:r>
          </a:p>
          <a:p xmlns:a="http://schemas.openxmlformats.org/drawingml/2006/main">
            <a:r>
              <a:t>- docs/ai-company-skills-master-plan.md — common Skill workspace and execution contract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NK AI Studio AI Company production knowledge graph, captured 2026-08-08</a:t>
            </a:r>
          </a:p>
          <a:p xmlns:a="http://schemas.openxmlformats.org/drawingml/2006/main">
            <a:r>
              <a:t>- docs/ai-company-skills-master-plan.md — company asset, knowledge and work-item principles</a:t>
            </a:r>
          </a:p>
          <a:p xmlns:a="http://schemas.openxmlformats.org/drawingml/2006/main">
            <a:r>
              <a:t>- ai-company-app/src/lib/companySkills.ts — 32-skill catalog design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d7f4928164a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2c8debe1554f78" /><Relationship Type="http://schemas.openxmlformats.org/officeDocument/2006/relationships/slideLayout" Target="/ppt/slideLayouts/slideLayout1.xml" Id="R8e5fdb01652746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5fdb01652746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cce54b8ed45de" /><Relationship Type="http://schemas.openxmlformats.org/officeDocument/2006/relationships/image" Target="/ppt/media/image.jpeg" Id="R73699cd0bacd48db" /><Relationship Type="http://schemas.openxmlformats.org/officeDocument/2006/relationships/image" Target="/ppt/media/image2.jpeg" Id="R68b658c0c84143c4" /><Relationship Type="http://schemas.openxmlformats.org/officeDocument/2006/relationships/image" Target="/ppt/media/image3.jpeg" Id="Ra1cb082ae4164d3c" /><Relationship Type="http://schemas.openxmlformats.org/officeDocument/2006/relationships/notesSlide" Target="/ppt/notesSlides/notesSlide1.xml" Id="Ra91492c64b884b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4b6042b8548dd" /><Relationship Type="http://schemas.openxmlformats.org/officeDocument/2006/relationships/image" Target="/ppt/media/image4.jpeg" Id="R1c039c3a349a4566" /><Relationship Type="http://schemas.openxmlformats.org/officeDocument/2006/relationships/notesSlide" Target="/ppt/notesSlides/notesSlide2.xml" Id="Re08d54259e0249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60a0022de4bad" /><Relationship Type="http://schemas.openxmlformats.org/officeDocument/2006/relationships/image" Target="/ppt/media/image5.jpeg" Id="R9360d91a3c8c4604" /><Relationship Type="http://schemas.openxmlformats.org/officeDocument/2006/relationships/image" Target="/ppt/media/image6.jpeg" Id="Rd4877cb10cff4ab4" /><Relationship Type="http://schemas.openxmlformats.org/officeDocument/2006/relationships/image" Target="/ppt/media/image7.jpeg" Id="R7179654225074293" /><Relationship Type="http://schemas.openxmlformats.org/officeDocument/2006/relationships/image" Target="/ppt/media/image8.jpeg" Id="R88c2970e2991480e" /><Relationship Type="http://schemas.openxmlformats.org/officeDocument/2006/relationships/image" Target="/ppt/media/image9.jpeg" Id="R061bfc5b0410464c" /><Relationship Type="http://schemas.openxmlformats.org/officeDocument/2006/relationships/notesSlide" Target="/ppt/notesSlides/notesSlide3.xml" Id="R1b9c8761ac494d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0361b3fae4f33" /><Relationship Type="http://schemas.openxmlformats.org/officeDocument/2006/relationships/image" Target="/ppt/media/image10.jpeg" Id="R079cc57bebd549e8" /><Relationship Type="http://schemas.openxmlformats.org/officeDocument/2006/relationships/image" Target="/ppt/media/image11.jpeg" Id="Rb5b7518cec81406c" /><Relationship Type="http://schemas.openxmlformats.org/officeDocument/2006/relationships/image" Target="/ppt/media/image12.jpeg" Id="R71ac383f462e4f97" /><Relationship Type="http://schemas.openxmlformats.org/officeDocument/2006/relationships/notesSlide" Target="/ppt/notesSlides/notesSlide4.xml" Id="Re5c6101ee22b48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c92a03fda4d88" /><Relationship Type="http://schemas.openxmlformats.org/officeDocument/2006/relationships/image" Target="/ppt/media/image13.jpeg" Id="R6a9a22bea57b400e" /><Relationship Type="http://schemas.openxmlformats.org/officeDocument/2006/relationships/notesSlide" Target="/ppt/notesSlides/notesSlide5.xml" Id="R330e7499e5d149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c16d56cca4635" /><Relationship Type="http://schemas.openxmlformats.org/officeDocument/2006/relationships/notesSlide" Target="/ppt/notesSlides/notesSlide6.xml" Id="Rf5c6c5ba260f41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604b9e24f4f56" /><Relationship Type="http://schemas.openxmlformats.org/officeDocument/2006/relationships/notesSlide" Target="/ppt/notesSlides/notesSlide7.xml" Id="R01f5be00e2b24f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61ec685144004" /><Relationship Type="http://schemas.openxmlformats.org/officeDocument/2006/relationships/image" Target="/ppt/media/image14.jpeg" Id="Rf91dd392db7d469a" /><Relationship Type="http://schemas.openxmlformats.org/officeDocument/2006/relationships/notesSlide" Target="/ppt/notesSlides/notesSlide8.xml" Id="R9f6c96bb51d846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99cd0bacd48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572250" y="0"/>
            <a:ext cx="5619750" cy="34290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658c0c84143c4"/>
          <a:srcRect xmlns:a="http://schemas.openxmlformats.org/drawingml/2006/main" l="16000" t="0" r="49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572250" y="3429000"/>
            <a:ext cx="2809875" cy="3429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b082ae4164d3c"/>
          <a:srcRect xmlns:a="http://schemas.openxmlformats.org/drawingml/2006/main" l="31000" t="0" r="31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382125" y="3429000"/>
            <a:ext cx="2809875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B2867-3BCD-48E8-B0F6-652CD2D3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16F85-74FB-4023-9523-13180F32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6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17AEC-524D-461E-8A91-4CF4B4AA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NK AI STUDIO · AI COMPANY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2A3D5-3124-4E53-A16B-85638965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5810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1인의 지시를</a:t>
            </a:r>
          </a:p>
          <a:p xmlns:a="http://schemas.openxmlformats.org/drawingml/2006/main">
            <a:pPr algn="l">
              <a:buNone/>
              <a:defRPr sz="4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11개 전문 에이전트가</a:t>
            </a:r>
          </a:p>
          <a:p xmlns:a="http://schemas.openxmlformats.org/drawingml/2006/main">
            <a:pPr algn="l">
              <a:buNone/>
              <a:defRPr sz="4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실행하는 AI 기업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D6283-C652-460D-BFD8-A3E27651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대화 → 업무 분해 → 실행 → 검토 → 자산화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A6D23-BC08-456D-81F0-8C70C8E8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0EAB4-D0AA-4217-9E7E-777A8920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콘텐츠 제작을 넘어, 회사의 업무와 지식을 운영합니다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6DDFE-F97B-4CC3-9743-7AB38BBA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RAVIOK AI Company  |  실제 운영 화면 · 제품 구조 · 확장 로드맵</a:t>
            </a:r>
          </a:p>
        </p:txBody>
      </p:sp>
    </p:spTree>
    <p:extLst>
      <p:ext uri="{BB962C8B-B14F-4D97-AF65-F5344CB8AC3E}">
        <p14:creationId xmlns:p14="http://schemas.microsoft.com/office/powerpoint/2010/main" val="1211825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03D2B6-4AC8-4CC9-AD79-B02DF246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OPERATIONAL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695C8-7D78-450C-8F1A-4A0FDAEA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11개 전문 에이전트가 프로젝트·지식·승인을 함께 관리합니다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23ED7-5D57-4A79-BAAC-976F76B2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2AAA8-6A97-40F6-8C99-95377AED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C49FE-1CDE-4D23-BD9C-E7C7A4FA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68580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6"/>
          </a:solidFill>
          <a:ln xmlns:a="http://schemas.openxmlformats.org/drawingml/2006/main" w="9525">
            <a:solidFill>
              <a:srgbClr val="2A344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39c3a349a456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1500" y="2119610"/>
            <a:ext cx="6629400" cy="29521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624D5-62B9-4751-84E1-BA14C715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AI Company 프로젝트 대시보드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8EE4A-686B-451B-9B96-3F49C13C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4E286-7BED-4D88-8782-7D1CBB31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전문 에이전트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DF7D6-7F77-48A5-B2B1-7EC74952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총괄·전략·리서치 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6DA88-8B9C-4952-A1EE-22A570A6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65735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EC255-43F7-481A-B9E4-46592C68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00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운영 프로젝트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BD515-D0F0-4D47-85FB-1678570C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62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실제 프로젝트 보드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E9151-093B-49E0-854D-2B299276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D231C-9680-4567-870B-162045C4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6712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B25E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 i="0">
                <a:solidFill>
                  <a:srgbClr val="FFB25E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8AABC-651B-42D7-812A-0690B804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00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회사 지식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60316-FD56-4665-B843-FF0F62D0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720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규칙·사실·결정·Skill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39E85-B5CC-4DF1-94E4-0009DED5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6712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50D6D-3EEA-413F-8DB0-45C827D5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00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학습 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698C1-B4B9-4687-8510-9CC65907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720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업무에서 학습된 절차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C88A84-D3F1-407D-8BC1-9E3771C5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667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30F1A-D012-453B-AF1E-5CAF4B00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38800"/>
            <a:ext cx="347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대화가 끝나도 프로젝트·규칙·지식이 회사 자산으로 남습니다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DEED9-2665-4050-9935-3150A114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AI Company 실제 운영 화면 · 2026.08.08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C6F22-8AC0-4FF8-8DFF-CD22D4CE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NK AI Studio  ·  20</a:t>
            </a:r>
          </a:p>
        </p:txBody>
      </p:sp>
    </p:spTree>
    <p:extLst>
      <p:ext uri="{BB962C8B-B14F-4D97-AF65-F5344CB8AC3E}">
        <p14:creationId xmlns:p14="http://schemas.microsoft.com/office/powerpoint/2010/main" val="1173959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CCD682-9CB3-41EB-A49E-22AC347A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ONE WORK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D5110-A7F8-45A6-8620-1DDCFE9E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대화와 Skill 화면이 같은 업무 엔진으로 이어집니다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00D93-7C35-4B1E-A7F5-79BBC583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AC32C-A546-4169-955E-2B807029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C8265-CDEC-4CC4-BA35-84188CC3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76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6"/>
          </a:solidFill>
          <a:ln xmlns:a="http://schemas.openxmlformats.org/drawingml/2006/main" w="9525">
            <a:solidFill>
              <a:srgbClr val="2A344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0d91a3c8c4604"/>
          <a:srcRect xmlns:a="http://schemas.openxmlformats.org/drawingml/2006/main" l="0" t="0" r="72000" b="2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85950"/>
            <a:ext cx="1924050" cy="2571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63E6E-CD94-4814-BADA-BBE2FF5B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1  요청 접수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0FAFD-72E0-43ED-B7F7-6D309273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337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BCAC7-7395-4DBB-8F53-83C0421C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09750"/>
            <a:ext cx="2076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6"/>
          </a:solidFill>
          <a:ln xmlns:a="http://schemas.openxmlformats.org/drawingml/2006/main" w="9525">
            <a:solidFill>
              <a:srgbClr val="2A344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77cb10cff4ab4"/>
          <a:srcRect xmlns:a="http://schemas.openxmlformats.org/drawingml/2006/main" l="25000" t="0" r="3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838450" y="1885950"/>
            <a:ext cx="1924050" cy="2571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D73E2-24FF-4C74-85D6-39D97A7B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482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2  계획·분배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9500E-4A46-4AF3-8927-CEC835AE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337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C10A9-B66F-4802-90F1-5EC72451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09750"/>
            <a:ext cx="2076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6"/>
          </a:solidFill>
          <a:ln xmlns:a="http://schemas.openxmlformats.org/drawingml/2006/main" w="9525">
            <a:solidFill>
              <a:srgbClr val="2A344B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9654225074293"/>
          <a:srcRect xmlns:a="http://schemas.openxmlformats.org/drawingml/2006/main" l="25000" t="0" r="3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143500" y="1885950"/>
            <a:ext cx="1924050" cy="2571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4BECD-A712-4C7E-9F16-06728978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482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3  진행 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516B2-814F-4FF0-8CE4-86596964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337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63212-8506-48B0-9578-11228655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09750"/>
            <a:ext cx="2076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6"/>
          </a:solidFill>
          <a:ln xmlns:a="http://schemas.openxmlformats.org/drawingml/2006/main" w="9525">
            <a:solidFill>
              <a:srgbClr val="2A344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2970e2991480e"/>
          <a:srcRect xmlns:a="http://schemas.openxmlformats.org/drawingml/2006/main" l="17000" t="0" r="49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48550" y="1885950"/>
            <a:ext cx="1924050" cy="2571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36877-368D-4674-A632-93380B79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482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4  지식·자산화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DB15C-E822-432E-B302-6DDCED25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1337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440D9-A45D-4D31-9AB7-F52D4AD5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09750"/>
            <a:ext cx="2076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6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bfc5b0410464c"/>
          <a:srcRect xmlns:a="http://schemas.openxmlformats.org/drawingml/2006/main" l="30000" t="0" r="32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753600" y="1885950"/>
            <a:ext cx="1924050" cy="2571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BF245-0CD7-4652-ACE1-4684C16A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482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5  모델·운영 설정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1143A-C8B8-47B2-8CE8-778D6D30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Core가 업무를 분해하고 전문 에이전트가 실행하며, 상태·결과·규칙은 서버에 이어집니다.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463A0C-CEE6-41D5-98DF-BA299A09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AI Company 실제 운영 화면 · 2026.08.08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22F90-00E4-4612-B72A-26C7F7B5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NK AI Studio  ·  21</a:t>
            </a:r>
          </a:p>
        </p:txBody>
      </p:sp>
    </p:spTree>
    <p:extLst>
      <p:ext uri="{BB962C8B-B14F-4D97-AF65-F5344CB8AC3E}">
        <p14:creationId xmlns:p14="http://schemas.microsoft.com/office/powerpoint/2010/main" val="2121973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A4E49-1500-42EA-9293-69ED6CB3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5247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26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cc57bebd549e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52450" y="2157933"/>
            <a:ext cx="7334250" cy="3266033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7518cec81406c"/>
          <a:srcRect xmlns:a="http://schemas.openxmlformats.org/drawingml/2006/main" l="0" t="11000" r="58000" b="3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343900" y="1657350"/>
            <a:ext cx="3390900" cy="195262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c383f462e4f97"/>
          <a:srcRect xmlns:a="http://schemas.openxmlformats.org/drawingml/2006/main" l="32000" t="13000" r="17000" b="23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343900" y="3781425"/>
            <a:ext cx="3390900" cy="1952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77574-23BF-40B5-8DC2-745931CD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975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0DDE3-923A-4199-91BE-1F34305A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764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 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CB84A-8279-4B11-9427-29DA9C78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2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49C82-4032-4956-8B90-88C20254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764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ROLE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C5D20-823E-4B21-8EF3-BECE859F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ROLE-BASED ORGANIZATION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7C08C-530C-4943-B94A-CF86AACD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81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Core가 10개 전문 역할에 업무를 배분하고 결과를 종합합니다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65673-A427-4A78-8BD9-3FDAC1EE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39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00C80-35C3-4B2D-994F-C437E74A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직원별 페르소나·보이스·운영 규칙 실제 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42D6D-0FDB-4C6F-8428-B9AFBA1F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NK AI Studio  ·  22</a:t>
            </a:r>
          </a:p>
        </p:txBody>
      </p:sp>
    </p:spTree>
    <p:extLst>
      <p:ext uri="{BB962C8B-B14F-4D97-AF65-F5344CB8AC3E}">
        <p14:creationId xmlns:p14="http://schemas.microsoft.com/office/powerpoint/2010/main" val="301332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2D80A-14E8-40D7-B2B5-0EA57CD6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ACTIVE SKILL · INFOGRAPHIC VIDEO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39963-9779-4B02-B0B9-D191A9EB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영상 산출물과 검증 기록을 함께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1686D-0F09-432A-A938-87515A9B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871BD-6F25-4B98-9A52-4486440F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a22bea57b400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7200" y="2256681"/>
            <a:ext cx="6591300" cy="293518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9B30E-FB88-40EB-B04D-592723D9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2F8E5-1B5A-4B41-8607-F67F10DE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보존 산출물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E0823-0A67-4D45-A775-B5F97FED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source·preview·final 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824B2-5912-41E3-8174-5556FBA8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975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46ECD-8DAF-492C-8472-63352E2B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52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표준 작업 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97109-7461-4562-8B48-CF2C4BDC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146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draft부터 완료까지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09CCB-272C-4935-978A-04B72C3A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4810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B25E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 i="0">
                <a:solidFill>
                  <a:srgbClr val="FFB25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D5DD1-80A7-46A0-9B78-DC636670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품질 게이트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74376-76DA-4EBD-AAD6-7FE2B31A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비율·가독성·무결성 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EBC8E-028E-47F8-873E-36EF189A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481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52D39A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 i="0">
                <a:solidFill>
                  <a:srgbClr val="52D39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F9577-C545-459B-AE8A-26375858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5910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Work Item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B18E4-D07B-4277-B515-D2F83A10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953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버전·계보·비용·승인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321CF-6193-4383-8E04-F47657A4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현재 Available: 디자인·콘텐츠 &gt; 인포그래픽 영상 · 2026.08.08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FAFE7-4336-452B-9C01-D047A363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NK AI Studio  ·  23</a:t>
            </a:r>
          </a:p>
        </p:txBody>
      </p:sp>
    </p:spTree>
    <p:extLst>
      <p:ext uri="{BB962C8B-B14F-4D97-AF65-F5344CB8AC3E}">
        <p14:creationId xmlns:p14="http://schemas.microsoft.com/office/powerpoint/2010/main" val="623419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621BD4-CE45-469B-BDB5-BA0EF9D0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HUMAN-IN-THE-LOOP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03023-17E2-4819-AA58-ED738571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58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자율 실행은 허용하되, 외부 변화와 비용은 사람의 승인 아래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58B38-5B35-4232-8DBD-90849422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41EC6-3096-47C3-A068-6DB5DA30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2A0BA-08F5-47F4-8207-CFB20F96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194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F85FB-B7DC-4BF6-8A29-1DDA05EE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28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59F86-C5BE-42F4-8AA4-9FDBD70E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626"/>
          </a:solidFill>
          <a:ln xmlns:a="http://schemas.openxmlformats.org/drawingml/2006/main" w="9525">
            <a:solidFill>
              <a:srgbClr val="2A34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778DA-5326-4210-88E8-14A2AECC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0EA3C-0230-4A77-AE76-7A54F22B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REQUEST</a:t>
            </a:r>
          </a:p>
          <a:p xmlns:a="http://schemas.openxmlformats.org/drawingml/2006/main">
            <a:pPr algn="l">
              <a:buNone/>
              <a:def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C5F95-5E76-4CA3-8781-84A8A0DD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목표·제약·산출물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EE030-A83F-4E20-8E62-41450340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766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58891-4059-4408-A3C3-C56A302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0C58C-290F-438A-877D-70439974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0325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A1420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330B6-D12D-49E9-9D88-702C2946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908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B19CB-D033-437F-B0D6-9E605115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6707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ROLE</a:t>
            </a:r>
          </a:p>
          <a:p xmlns:a="http://schemas.openxmlformats.org/drawingml/2006/main">
            <a:pPr algn="l">
              <a:buNone/>
              <a:def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F0FA1-1036-469C-86B4-B57DAF62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1002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Core가 전문 역할에 분배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DB75C-EB4C-4F0D-AAB6-0153A450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194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7141D-9396-4568-BB7D-7C0B15E4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28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075F8-E257-44B4-BB75-6CD1F913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43125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626"/>
          </a:solidFill>
          <a:ln xmlns:a="http://schemas.openxmlformats.org/drawingml/2006/main" w="9525">
            <a:solidFill>
              <a:srgbClr val="2A34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C3F69-A8E3-4A16-8738-0A28B384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33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F7FB4-3D90-4408-A6EA-C8913195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0987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PERSISTENT</a:t>
            </a:r>
          </a:p>
          <a:p xmlns:a="http://schemas.openxmlformats.org/drawingml/2006/main">
            <a:pPr algn="l">
              <a:buNone/>
              <a:def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JOB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67DFD-31F5-4707-95B4-3FCCB544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5282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새로고침·재시작 후 복원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10407A-974B-403F-9D7B-984216D4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CE002E-268D-4EEF-9A39-B9D99324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861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B0DB73-7FF6-4016-A99D-21C394EF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00325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A1420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6F5A9F-6967-4BF5-8020-45A1EF53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908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2F19F8-7FAC-4F6D-B38B-E33F62E9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6707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APPROVAL &amp;</a:t>
            </a:r>
          </a:p>
          <a:p xmlns:a="http://schemas.openxmlformats.org/drawingml/2006/main">
            <a:pPr algn="l">
              <a:buNone/>
              <a:def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COST GATES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99CF9-4591-4AFD-A9AA-A9BF89B2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002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외부 쓰기·삭제·비용 승인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FC7658-33BF-42B1-9A58-3739D0F1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43125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626"/>
          </a:solidFill>
          <a:ln xmlns:a="http://schemas.openxmlformats.org/drawingml/2006/main" w="9525">
            <a:solidFill>
              <a:srgbClr val="2A34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8E3DEF-05F6-42C4-B165-8E1FD4C0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33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758FF-68A2-44DF-BE78-23E06DAC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987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QUALITY &amp;</a:t>
            </a:r>
          </a:p>
          <a:p xmlns:a="http://schemas.openxmlformats.org/drawingml/2006/main">
            <a:pPr algn="l">
              <a:buNone/>
              <a:def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LINEAGE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62BDF8-951C-499E-9AEA-21122CC8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5282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검수·버전·계보·보고서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6FF69A-F588-40AC-9CDD-BA8766CC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rPr>
              <a:t>결과: 빠른 실행과 통제 가능성을 함께 확보하고, 완료 근거를 작업 기록으로 남깁니다.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56891F-0169-45AE-AFE1-BA4915C8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AI Company 공통 실행·승인·보존 구조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FC826E-6B00-4224-B360-313B7727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NK AI Studio  ·  24</a:t>
            </a:r>
          </a:p>
        </p:txBody>
      </p:sp>
    </p:spTree>
    <p:extLst>
      <p:ext uri="{BB962C8B-B14F-4D97-AF65-F5344CB8AC3E}">
        <p14:creationId xmlns:p14="http://schemas.microsoft.com/office/powerpoint/2010/main" val="14598169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DBF4B5-0F3D-4ECB-8EA1-A190A407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PRODUCT 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C7398-2563-4EF1-84BB-7546EEF5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하나의 Job 엔진 위에 7개 업무 영역·32개 Skill을 확장합니다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651B4-9FD4-435E-BDC1-BE00EA0A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E6382-2904-44E0-8F6A-AFA6E0D9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D74EF-780D-4325-93AA-1EE4E3A8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rPr>
              <a:t>CURRENT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145CC-15A4-495B-9952-27173540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1개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D125E-68B4-45C5-B742-7474B4A2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ACECB-AC4C-4A40-A361-DF4A729A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인포그래픽 영상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F7476-920C-4B9F-B345-B6C2239B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Remotion 렌더·5종 산출물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1F11E-9C78-4793-9688-0BEAD35E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READY 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28EFF-AE8B-4573-B751-9AB92552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383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6개 후보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72279-9C14-4FAF-9736-B2F75158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05125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3D93B-689F-4678-894F-367960F2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이미지·PPT·카드뉴스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D3869-3593-4635-9EC5-6FA2808A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같은 미리보기·보고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48288-BC8E-46C3-A08B-CD32EC10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rPr>
              <a:t>FUNCTIONAL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50163-F821-4280-A64B-72689FBC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383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7개 영역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51124-F518-44AF-BDA4-19E5C6A8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05125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F38CA-7AA3-4C83-AD24-E1FBE25A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43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문서·조사·마케팅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D9A6F-EDD6-4832-AC32-BA72E7AE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소통·개발·경영까지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8BC16-F14A-47BB-B82B-E54FB35B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448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20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92217-120E-4282-95CB-33EB511F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716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PLATFORM 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5B076-8BA8-4C6C-8E9E-BD1B5D28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28875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32개</a:t>
            </a:r>
          </a:p>
          <a:p xmlns:a="http://schemas.openxmlformats.org/drawingml/2006/main">
            <a:pPr algn="l">
              <a:buNone/>
              <a:defRPr sz="27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Skill 정의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3A933-FFF3-4C4E-8056-BC09AA14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0522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공통 입력 · 상태 · 권한 · 비용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품질 · 산출물 계약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BF8B6B-EDE6-4923-9195-598775A3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E123CB-80E6-4FF1-A4C1-3D2F45EF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현재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3EF86-2A43-4A51-981D-9FE3C533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운영 중인 기능만 Available로 표시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3FCBE-A889-4668-8DF5-BAE19B1F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673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rPr>
              <a:t>확장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4F85C7-076B-49B9-BACA-81A650F8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38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Coming soon 기능은 같은 Job 규격으로 연결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81BBE6-F919-4266-99A9-F1B38022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현재 운영 1개 · 나머지는 확장 설계 기준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E481A0-2AF1-4CB7-B436-B2F174BE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NK AI Studio  ·  25</a:t>
            </a:r>
          </a:p>
        </p:txBody>
      </p:sp>
    </p:spTree>
    <p:extLst>
      <p:ext uri="{BB962C8B-B14F-4D97-AF65-F5344CB8AC3E}">
        <p14:creationId xmlns:p14="http://schemas.microsoft.com/office/powerpoint/2010/main" val="248159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dd392db7d469a"/>
          <a:srcRect xmlns:a="http://schemas.openxmlformats.org/drawingml/2006/main" l="16000" t="0" r="49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0"/>
            <a:ext cx="4762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7B1D1-0BA5-4943-8E0B-50D48D43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58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0FD98-B19B-4C9F-BF1C-9EAE4702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STRATEGIC FIT · NK AI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D919B-B1C5-4DEE-90D3-378190DE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콘텐츠를 만드는 도구와</a:t>
            </a:r>
          </a:p>
          <a:p xmlns:a="http://schemas.openxmlformats.org/drawingml/2006/main">
            <a:pPr algn="l">
              <a:buNone/>
              <a:defRPr sz="33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회사를 운영하는 AI 조직이 연결됩니다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9ABEB-63F5-4207-8FAB-5F8BA0CA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1E1C6-FB16-4C37-B7CE-AC52E840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03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NK AI Studio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79C9D-A839-4CF3-8327-A294B156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28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IP·에피소드·제작·배포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A8E31-70AC-47DE-8CED-F8FE751D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47BC1-6300-49B2-BB79-BF14AB4F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242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AI Company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06351-2347-4718-97E2-AFC2A2AB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52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조직·업무·지식·승인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AB0D8-B5D2-4BB4-8035-28069F0E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C8F9B-7A9B-4FCF-9214-E4F4079E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통합 운영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8B9CE-0FD9-4D53-99B4-13B69572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76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성과와 학습이 다음 제작으로 순환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4C488-7F39-45C8-B214-A9FF9A9B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2442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C569C-E2F3-4772-9F28-69FAFE83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i="0">
                <a:solidFill>
                  <a:srgbClr val="42D4FF"/>
                </a:solidFill>
                <a:latin typeface="Malgun Gothic"/>
                <a:ea typeface="Malgun Gothic"/>
                <a:cs typeface="Malgun Gothic"/>
              </a:rPr>
              <a:t>COMBINED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E653A-5D1C-4BFE-ADBD-91D09C3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B8279C-244A-41D0-8C22-C3344F66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6483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프로젝트 문맥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9F6A4-9A5B-4B7D-AE12-9E2C4B38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62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95027-6E12-41A5-B4CC-9AEA6C75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6483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전문 에이전트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AB1DD-7831-438A-A953-C07463B3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59F92-55D6-4B55-9E4C-F301CFA8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64832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i="0">
                <a:solidFill>
                  <a:srgbClr val="A9B0BF"/>
                </a:solidFill>
                <a:latin typeface="Malgun Gothic"/>
                <a:ea typeface="Malgun Gothic"/>
                <a:cs typeface="Malgun Gothic"/>
              </a:rPr>
              <a:t>확장 Skill 설계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1B66A-C6BF-4A15-BE18-63E84E6D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714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18"/>
          </a:solidFill>
          <a:ln xmlns:a="http://schemas.openxmlformats.org/drawingml/2006/main" w="19050">
            <a:solidFill>
              <a:srgbClr val="FF7A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78027-A02E-4DDE-9BAB-D3F2182A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576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FF7A00"/>
                </a:solidFill>
                <a:latin typeface="Malgun Gothic"/>
                <a:ea typeface="Malgun Gothic"/>
                <a:cs typeface="Malgun Gothic"/>
              </a:rPr>
              <a:t>NEXT CONVERSATION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404EE-0B09-494A-A233-BBDEED70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33925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6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반복 제작·운영 PoC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F6F2E8"/>
                </a:solidFill>
                <a:latin typeface="Malgun Gothic"/>
                <a:ea typeface="Malgun Gothic"/>
                <a:cs typeface="Malgun Gothic"/>
              </a:rPr>
              <a:t>기업 맞춤 Skill 구축 · 투자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2BD97A-D4AA-43F2-AB09-6D9A38CF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03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i="0">
                <a:solidFill>
                  <a:srgbClr val="6E7687"/>
                </a:solidFill>
                <a:latin typeface="Malgun Gothic"/>
                <a:ea typeface="Malgun Gothic"/>
                <a:cs typeface="Malgun Gothic"/>
              </a:rPr>
              <a:t>NK AI Studio × RAVIOK AI Company</a:t>
            </a:r>
          </a:p>
        </p:txBody>
      </p:sp>
    </p:spTree>
    <p:extLst>
      <p:ext uri="{BB962C8B-B14F-4D97-AF65-F5344CB8AC3E}">
        <p14:creationId xmlns:p14="http://schemas.microsoft.com/office/powerpoint/2010/main" val="1129515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2026-08-08T09:35:29.5140000Z</dcterms:created>
  <dcterms:modified xsi:type="dcterms:W3CDTF">2026-08-08T09:35:29.5140000Z</dcterms:modified>
</coreProperties>
</file>