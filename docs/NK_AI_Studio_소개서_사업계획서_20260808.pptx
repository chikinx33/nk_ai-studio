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a187ec3dd437b" /><Relationship Type="http://schemas.openxmlformats.org/officeDocument/2006/relationships/extended-properties" Target="/docProps/app.xml" Id="R397dcd58c87745c0" /><Relationship Type="http://schemas.openxmlformats.org/officeDocument/2006/relationships/officeDocument" Target="/ppt/presentation.xml" Id="Refb6f7a2771b4b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ef07e6d96040a7"/>
  </p:sldMasterIdLst>
  <p:notesMasterIdLst>
    <p:notesMasterId xmlns:r="http://schemas.openxmlformats.org/officeDocument/2006/relationships" r:id="R0600950c51ed47e8"/>
  </p:notesMasterIdLst>
  <p:sldIdLst>
    <p:sldId xmlns:r="http://schemas.openxmlformats.org/officeDocument/2006/relationships" id="256" r:id="R02918d911f424f61"/>
    <p:sldId xmlns:r="http://schemas.openxmlformats.org/officeDocument/2006/relationships" id="257" r:id="R5f36188833ee4779"/>
    <p:sldId xmlns:r="http://schemas.openxmlformats.org/officeDocument/2006/relationships" id="258" r:id="R16afcc93829b446b"/>
    <p:sldId xmlns:r="http://schemas.openxmlformats.org/officeDocument/2006/relationships" id="259" r:id="Rf253f49f89674bbc"/>
    <p:sldId xmlns:r="http://schemas.openxmlformats.org/officeDocument/2006/relationships" id="260" r:id="R7920118f4613488a"/>
    <p:sldId xmlns:r="http://schemas.openxmlformats.org/officeDocument/2006/relationships" id="261" r:id="R894d0a638a294b13"/>
    <p:sldId xmlns:r="http://schemas.openxmlformats.org/officeDocument/2006/relationships" id="262" r:id="R228cf6c6359943fa"/>
    <p:sldId xmlns:r="http://schemas.openxmlformats.org/officeDocument/2006/relationships" id="263" r:id="R2aee9bd16cde4fff"/>
    <p:sldId xmlns:r="http://schemas.openxmlformats.org/officeDocument/2006/relationships" id="264" r:id="Re14ccb71334f489f"/>
    <p:sldId xmlns:r="http://schemas.openxmlformats.org/officeDocument/2006/relationships" id="265" r:id="R2c6d4eacf1a54bdc"/>
    <p:sldId xmlns:r="http://schemas.openxmlformats.org/officeDocument/2006/relationships" id="266" r:id="R9a63014aa08a4015"/>
    <p:sldId xmlns:r="http://schemas.openxmlformats.org/officeDocument/2006/relationships" id="267" r:id="Ra9edac6ee1474517"/>
    <p:sldId xmlns:r="http://schemas.openxmlformats.org/officeDocument/2006/relationships" id="268" r:id="R9f53886f380a419b"/>
    <p:sldId xmlns:r="http://schemas.openxmlformats.org/officeDocument/2006/relationships" id="269" r:id="Rb14e7c22b42c44c0"/>
    <p:sldId xmlns:r="http://schemas.openxmlformats.org/officeDocument/2006/relationships" id="270" r:id="R1723b0edaa9e43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2fc3be37544e4e" /><Relationship Type="http://schemas.openxmlformats.org/officeDocument/2006/relationships/slideMaster" Target="/ppt/slideMasters/slideMaster1.xml" Id="Rdaef07e6d96040a7" /><Relationship Type="http://schemas.openxmlformats.org/officeDocument/2006/relationships/notesMaster" Target="/ppt/notesMasters/notesMaster1.xml" Id="R0600950c51ed47e8" /><Relationship Type="http://schemas.openxmlformats.org/officeDocument/2006/relationships/presProps" Target="/ppt/presProps.xml" Id="Re036c9227e58435b" /><Relationship Type="http://schemas.openxmlformats.org/officeDocument/2006/relationships/tableStyles" Target="/ppt/tableStyles.xml" Id="R7836e87769ea457d" /><Relationship Type="http://schemas.openxmlformats.org/officeDocument/2006/relationships/slide" Target="/ppt/slides/slide1.xml" Id="R02918d911f424f61" /><Relationship Type="http://schemas.openxmlformats.org/officeDocument/2006/relationships/slide" Target="/ppt/slides/slide2.xml" Id="R5f36188833ee4779" /><Relationship Type="http://schemas.openxmlformats.org/officeDocument/2006/relationships/slide" Target="/ppt/slides/slide3.xml" Id="R16afcc93829b446b" /><Relationship Type="http://schemas.openxmlformats.org/officeDocument/2006/relationships/slide" Target="/ppt/slides/slide4.xml" Id="Rf253f49f89674bbc" /><Relationship Type="http://schemas.openxmlformats.org/officeDocument/2006/relationships/slide" Target="/ppt/slides/slide5.xml" Id="R7920118f4613488a" /><Relationship Type="http://schemas.openxmlformats.org/officeDocument/2006/relationships/slide" Target="/ppt/slides/slide6.xml" Id="R894d0a638a294b13" /><Relationship Type="http://schemas.openxmlformats.org/officeDocument/2006/relationships/slide" Target="/ppt/slides/slide7.xml" Id="R228cf6c6359943fa" /><Relationship Type="http://schemas.openxmlformats.org/officeDocument/2006/relationships/slide" Target="/ppt/slides/slide8.xml" Id="R2aee9bd16cde4fff" /><Relationship Type="http://schemas.openxmlformats.org/officeDocument/2006/relationships/slide" Target="/ppt/slides/slide9.xml" Id="Re14ccb71334f489f" /><Relationship Type="http://schemas.openxmlformats.org/officeDocument/2006/relationships/slide" Target="/ppt/slides/slide10.xml" Id="R2c6d4eacf1a54bdc" /><Relationship Type="http://schemas.openxmlformats.org/officeDocument/2006/relationships/slide" Target="/ppt/slides/slide11.xml" Id="R9a63014aa08a4015" /><Relationship Type="http://schemas.openxmlformats.org/officeDocument/2006/relationships/slide" Target="/ppt/slides/slide12.xml" Id="Ra9edac6ee1474517" /><Relationship Type="http://schemas.openxmlformats.org/officeDocument/2006/relationships/slide" Target="/ppt/slides/slide13.xml" Id="R9f53886f380a419b" /><Relationship Type="http://schemas.openxmlformats.org/officeDocument/2006/relationships/slide" Target="/ppt/slides/slide14.xml" Id="Rb14e7c22b42c44c0" /><Relationship Type="http://schemas.openxmlformats.org/officeDocument/2006/relationships/slide" Target="/ppt/slides/slide15.xml" Id="R1723b0edaa9e43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be37208204b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56c1edbf2f41da" /><Relationship Type="http://schemas.openxmlformats.org/officeDocument/2006/relationships/notesMaster" Target="/ppt/notesMasters/notesMaster1.xml" Id="R0593824a167d49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b15b991ff0451c" /><Relationship Type="http://schemas.openxmlformats.org/officeDocument/2006/relationships/notesMaster" Target="/ppt/notesMasters/notesMaster1.xml" Id="R744c721010fb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90380c90264907" /><Relationship Type="http://schemas.openxmlformats.org/officeDocument/2006/relationships/notesMaster" Target="/ppt/notesMasters/notesMaster1.xml" Id="R9e20af8b8d8a46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6997a2db94b91" /><Relationship Type="http://schemas.openxmlformats.org/officeDocument/2006/relationships/notesMaster" Target="/ppt/notesMasters/notesMaster1.xml" Id="R971d39ab54af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8b90cb65af428d" /><Relationship Type="http://schemas.openxmlformats.org/officeDocument/2006/relationships/notesMaster" Target="/ppt/notesMasters/notesMaster1.xml" Id="R5cc16a694d2345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8b86ce9fb490f" /><Relationship Type="http://schemas.openxmlformats.org/officeDocument/2006/relationships/notesMaster" Target="/ppt/notesMasters/notesMaster1.xml" Id="R96d46fccfdfa44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d6b90c8edf4bc3" /><Relationship Type="http://schemas.openxmlformats.org/officeDocument/2006/relationships/notesMaster" Target="/ppt/notesMasters/notesMaster1.xml" Id="R81e9c02430d4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e1d5ae0d945ca" /><Relationship Type="http://schemas.openxmlformats.org/officeDocument/2006/relationships/notesMaster" Target="/ppt/notesMasters/notesMaster1.xml" Id="R8ea60d8158d7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da40cb780346de" /><Relationship Type="http://schemas.openxmlformats.org/officeDocument/2006/relationships/notesMaster" Target="/ppt/notesMasters/notesMaster1.xml" Id="R49fa91b5f77443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dce44bc66e439b" /><Relationship Type="http://schemas.openxmlformats.org/officeDocument/2006/relationships/notesMaster" Target="/ppt/notesMasters/notesMaster1.xml" Id="Raf41d85bd1d2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c82ba7e9554d3a" /><Relationship Type="http://schemas.openxmlformats.org/officeDocument/2006/relationships/notesMaster" Target="/ppt/notesMasters/notesMaster1.xml" Id="R9a5c78c9992949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ca0ac3c4c54b94" /><Relationship Type="http://schemas.openxmlformats.org/officeDocument/2006/relationships/notesMaster" Target="/ppt/notesMasters/notesMaster1.xml" Id="Rc402071b49ef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94ef85ca594d46" /><Relationship Type="http://schemas.openxmlformats.org/officeDocument/2006/relationships/notesMaster" Target="/ppt/notesMasters/notesMaster1.xml" Id="R55613c9311994f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cdbb48e5eb4abb" /><Relationship Type="http://schemas.openxmlformats.org/officeDocument/2006/relationships/notesMaster" Target="/ppt/notesMasters/notesMaster1.xml" Id="R66da6ef711374b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7267348cd84c46" /><Relationship Type="http://schemas.openxmlformats.org/officeDocument/2006/relationships/notesMaster" Target="/ppt/notesMasters/notesMaster1.xml" Id="Rf5fe0aa2465742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screenshot: tmp/nk-studio-business-deck-20260808/assets/landing-live.png, captured 2026-08-08</a:t>
            </a:r>
          </a:p>
          <a:p xmlns:a="http://schemas.openxmlformats.org/drawingml/2006/main">
            <a:r>
              <a:t>- Internal product definition: docs/service_guide.md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IAB, 2025 Creator Economy Ad Spend &amp; Strategy Report: https://www.iab.com/insights/2025-creator-economy-ad-spend-strategy-report/</a:t>
            </a:r>
          </a:p>
          <a:p xmlns:a="http://schemas.openxmlformats.org/drawingml/2006/main">
            <a:r>
              <a:t>- IAB, Creator Economy Ad Spend to Reach $37 Billion in 2025: https://www.iab.com/news/creator-economy-ad-spend-to-reach-37-billion-in-2025-growing-4x-faster-than-total-media-industry-according-to-iab/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problem framing: docs/service_guide.md</a:t>
            </a:r>
          </a:p>
          <a:p xmlns:a="http://schemas.openxmlformats.org/drawingml/2006/main">
            <a:r>
              <a:t>- Internal architecture risks: docs/architecture-overview.md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identity: docs/service_guide.md</a:t>
            </a:r>
          </a:p>
          <a:p xmlns:a="http://schemas.openxmlformats.org/drawingml/2006/main">
            <a:r>
              <a:t>- Internal target architecture: docs/architecture-agreement-v1.md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current and target flows: docs/service_guide.md</a:t>
            </a:r>
          </a:p>
          <a:p xmlns:a="http://schemas.openxmlformats.org/drawingml/2006/main">
            <a:r>
              <a:t>- Internal implementation status: docs/architecture-agreement-v1.md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screenshot: nk-studio-intro-video/public/assets/scenario.png</a:t>
            </a:r>
          </a:p>
          <a:p xmlns:a="http://schemas.openxmlformats.org/drawingml/2006/main">
            <a:r>
              <a:t>- Scenario generation contract: docs/prompt-rules.md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Scenario architecture rules: docs/prompt-rules.md</a:t>
            </a:r>
          </a:p>
          <a:p xmlns:a="http://schemas.openxmlformats.org/drawingml/2006/main">
            <a:r>
              <a:t>- Implementation: prototype/functions/api/scenario/prompt-builder.js and prototype/functions/api/scenario/validator.js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browser screenshot: tmp/nk-studio-business-deck-20260808/assets/ai-sound.png, captured 2026-08-08</a:t>
            </a:r>
          </a:p>
          <a:p xmlns:a="http://schemas.openxmlformats.org/drawingml/2006/main">
            <a:r>
              <a:t>- Scene-level control principles: docs/service_guide.md</a:t>
            </a:r>
          </a:p>
          <a:p xmlns:a="http://schemas.openxmlformats.org/drawingml/2006/main">
            <a:r>
              <a:t>- Internal app assets: prototype/images/menu/image.png, video.png, sound.png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browser screenshot: tmp/nk-studio-business-deck-20260808/assets/sns-settings.png, captured 2026-08-08</a:t>
            </a:r>
          </a:p>
          <a:p xmlns:a="http://schemas.openxmlformats.org/drawingml/2006/main">
            <a:r>
              <a:t>- Brand Operations design: docs/brand-studio-v1-plan.md</a:t>
            </a:r>
          </a:p>
          <a:p xmlns:a="http://schemas.openxmlformats.org/drawingml/2006/main">
            <a:r>
              <a:t>- Implementation checklist: docs/architecture-agreement-v1.md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Runtime layers and current providers: docs/architecture-overview.md</a:t>
            </a:r>
          </a:p>
          <a:p xmlns:a="http://schemas.openxmlformats.org/drawingml/2006/main">
            <a:r>
              <a:t>- Internal implementations: prototype/functions/api/imagen.ts, video.ts, sound/voice-generate.ts, sns/publish.ts, agent/*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counts performed 2026-08-08: 76 prototype/tests/*.test.mjs files; 165 prototype/functions/api JS/TS files; 28 prototype/*.html pages</a:t>
            </a:r>
          </a:p>
          <a:p xmlns:a="http://schemas.openxmlformats.org/drawingml/2006/main">
            <a:r>
              <a:t>- Counts are engineering asset indicators, not customer, revenue, or production SLA metrics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Competitive framing is a qualitative product-positioning comparison based on NK AI Studio internal design documents; it is not a benchmark test of named competitors</a:t>
            </a:r>
          </a:p>
          <a:p xmlns:a="http://schemas.openxmlformats.org/drawingml/2006/main">
            <a:r>
              <a:t>- Internal differentiation sources: docs/prompt-rules.md and docs/service_guide.md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commercial structure prepared for this business-development deck; no current revenue, customer count, or pricing is asserted</a:t>
            </a:r>
          </a:p>
          <a:p xmlns:a="http://schemas.openxmlformats.org/drawingml/2006/main">
            <a:r>
              <a:t>- Product scope reference: docs/service_guide.md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Target-user definition: docs/service_guide.md</a:t>
            </a:r>
          </a:p>
          <a:p xmlns:a="http://schemas.openxmlformats.org/drawingml/2006/main">
            <a:r>
              <a:t>- Go-to-market offers are proposals for validation through paid pilots and service engagements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Partnership options are proposed next steps for investment, paid pilot, and service-contract discussions</a:t>
            </a:r>
          </a:p>
          <a:p xmlns:a="http://schemas.openxmlformats.org/drawingml/2006/main">
            <a:r>
              <a:t>- Product vision: docs/service_guide.md and docs/video-automation-commercial-roadmap.md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2e0c94c7c45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0639c4195473b" /><Relationship Type="http://schemas.openxmlformats.org/officeDocument/2006/relationships/slideLayout" Target="/ppt/slideLayouts/slideLayout1.xml" Id="Ra1d7a44ee4a24c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d7a44ee4a24c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a297acfae4667" /><Relationship Type="http://schemas.openxmlformats.org/officeDocument/2006/relationships/image" Target="/ppt/media/image.jpeg" Id="Rbc9f565f5c814f72" /><Relationship Type="http://schemas.openxmlformats.org/officeDocument/2006/relationships/image" Target="/ppt/media/image.png" Id="R59ca6cb3f97d41b5" /><Relationship Type="http://schemas.openxmlformats.org/officeDocument/2006/relationships/notesSlide" Target="/ppt/notesSlides/notesSlide1.xml" Id="Rad2f4c82736843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62afde1064ee2" /><Relationship Type="http://schemas.openxmlformats.org/officeDocument/2006/relationships/notesSlide" Target="/ppt/notesSlides/notesSlide2.xml" Id="Rb4bbea53392a4b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cbabaf4bb454a" /><Relationship Type="http://schemas.openxmlformats.org/officeDocument/2006/relationships/notesSlide" Target="/ppt/notesSlides/notesSlide3.xml" Id="Rb0bafe500f3545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de29347cc4188" /><Relationship Type="http://schemas.openxmlformats.org/officeDocument/2006/relationships/notesSlide" Target="/ppt/notesSlides/notesSlide4.xml" Id="R3c1e4e9f7ec944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1e6e779c4f49" /><Relationship Type="http://schemas.openxmlformats.org/officeDocument/2006/relationships/notesSlide" Target="/ppt/notesSlides/notesSlide5.xml" Id="R52fc27417bd642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fad0e46cc4f45" /><Relationship Type="http://schemas.openxmlformats.org/officeDocument/2006/relationships/image" Target="/ppt/media/image2.jpeg" Id="R5b6c59cc519d4b07" /><Relationship Type="http://schemas.openxmlformats.org/officeDocument/2006/relationships/notesSlide" Target="/ppt/notesSlides/notesSlide6.xml" Id="Rf8fb9c204630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9e0c3aec14245" /><Relationship Type="http://schemas.openxmlformats.org/officeDocument/2006/relationships/notesSlide" Target="/ppt/notesSlides/notesSlide7.xml" Id="Rfbaeece6425f41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fbbccb644deb" /><Relationship Type="http://schemas.openxmlformats.org/officeDocument/2006/relationships/image" Target="/ppt/media/image3.jpeg" Id="R66d0b29313814096" /><Relationship Type="http://schemas.openxmlformats.org/officeDocument/2006/relationships/image" Target="/ppt/media/image2.png" Id="R476924b3e00a446c" /><Relationship Type="http://schemas.openxmlformats.org/officeDocument/2006/relationships/image" Target="/ppt/media/image3.png" Id="Rff1375d2017747ce" /><Relationship Type="http://schemas.openxmlformats.org/officeDocument/2006/relationships/image" Target="/ppt/media/image4.png" Id="Rcb3e6badda424886" /><Relationship Type="http://schemas.openxmlformats.org/officeDocument/2006/relationships/notesSlide" Target="/ppt/notesSlides/notesSlide8.xml" Id="R3682c37514af4a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0949bf7df4212" /><Relationship Type="http://schemas.openxmlformats.org/officeDocument/2006/relationships/image" Target="/ppt/media/image4.jpeg" Id="R024f99c0d1d34f4c" /><Relationship Type="http://schemas.openxmlformats.org/officeDocument/2006/relationships/notesSlide" Target="/ppt/notesSlides/notesSlide9.xml" Id="R6073c8d337204b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c3a15f8cb42c3" /><Relationship Type="http://schemas.openxmlformats.org/officeDocument/2006/relationships/notesSlide" Target="/ppt/notesSlides/notesSlide10.xml" Id="R9ee5800dc3ca42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619477aae4fff" /><Relationship Type="http://schemas.openxmlformats.org/officeDocument/2006/relationships/notesSlide" Target="/ppt/notesSlides/notesSlide11.xml" Id="R3c6729b6ce274c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bd171084400d" /><Relationship Type="http://schemas.openxmlformats.org/officeDocument/2006/relationships/notesSlide" Target="/ppt/notesSlides/notesSlide12.xml" Id="Rb2a48fde9a0b4e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09453743f43b4" /><Relationship Type="http://schemas.openxmlformats.org/officeDocument/2006/relationships/notesSlide" Target="/ppt/notesSlides/notesSlide13.xml" Id="R32a040f5745146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8f6c65ea4a39" /><Relationship Type="http://schemas.openxmlformats.org/officeDocument/2006/relationships/notesSlide" Target="/ppt/notesSlides/notesSlide14.xml" Id="R6a7f846b55f84f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34d63aa9d44b3" /><Relationship Type="http://schemas.openxmlformats.org/officeDocument/2006/relationships/notesSlide" Target="/ppt/notesSlides/notesSlide15.xml" Id="Rced07986ffa4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1D0E-9E8A-4687-AAC5-508F714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f565f5c814f72"/>
          <a:srcRect xmlns:a="http://schemas.openxmlformats.org/drawingml/2006/main" l="25703" t="0" r="257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a6cb3f97d41b5"/>
          <a:stretch xmlns:a="http://schemas.openxmlformats.org/drawingml/2006/main"/>
        </p:blipFill>
        <p:spPr>
          <a:xfrm xmlns:a="http://schemas.openxmlformats.org/drawingml/2006/main">
            <a:off x="419100" y="400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5E728-207A-43D0-B0E0-30CDA5D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NK AI 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7E498-5281-4B8C-B1A6-F30EB15C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콘텐츠 제작을 넘어</a:t>
            </a:r>
          </a:p>
          <a:p xmlns:a="http://schemas.openxmlformats.org/drawingml/2006/main">
            <a:pPr algn="l">
              <a:defRPr sz="5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브랜드 운영까지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3AC20-81C2-44B4-84B2-90DDC02F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9525"/>
            <a:ext cx="5286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기획 · 생성 · 편집 · 배포 · 분석을</a:t>
            </a:r>
          </a:p>
          <a:p xmlns:a="http://schemas.openxmlformats.org/drawingml/2006/main">
            <a:pPr algn="l">
              <a:def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하나의 Project 문맥으로 연결하는 Creator Operating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9E822-D3BB-4F11-AD3A-D7AF6C7B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286375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93B5F-CD62-41A5-B7C9-FA42356E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62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투자 · PoC · 용역 협력 제안서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5954-2AFC-4D21-85B6-0439C65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626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29175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3B7CE-55B2-403B-9DD9-59AE6E54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MARKET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9C452-6C2A-46FE-8261-C46C2CC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Creator Economy의 승부처는 ‘운영’입니다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D566-CE3A-4E30-A9E0-EC1F45BE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0BA8D-C33D-4AF4-B7F5-85B6325B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광고비는 빠르게 커지지만, 브랜드는 AI의 효율성과 함께 측정·표준화·투명성을 요구합니다.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A2F25-814B-45DF-8168-72A62F25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4C015-3AA1-42E2-9A8A-B021AD2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$37B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1B3EA-784B-4B14-B9E1-184DACF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2025 미국 Creator 광고비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E630D-0675-4C6F-8D90-D2F2E926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전년 대비 26% 성장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605A2-A2BE-4815-A897-6B99456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765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29E4E-4E78-4113-A181-A70CBF39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$44B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F6A13-327C-4F77-AB78-92A47D5D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576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2026 예상 광고비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09C30-9A40-4E9F-819B-7E0EE62D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브랜드의 독립 채널로 정착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84FD0-43D4-44D0-9E6C-991E91A3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76525"/>
            <a:ext cx="35623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2729F-E549-4B75-811A-6FDFFE7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3 in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ED8D2-AE57-48D7-B6DB-4A98070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576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AI 사용·도입 계획 브랜드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82CF-C617-44CD-9D05-5AFA7336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편집·브리프·개인화 중심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A1684-5B1A-44AD-8094-0921FD1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4FC5C-3437-4AD3-B5BC-87BCB68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6282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3930F-B724-48E2-8C0E-7B929946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19151-3F8B-4717-86B4-D309BD36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도구가 늘어날수록 콘텐츠 운영은 더 느려집니다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F0310-B6F4-4D96-A4FB-AA5DD728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5591-9C7D-478C-B213-77D3BBD0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53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7CF76-30F4-4779-80FF-54D7E98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62125"/>
            <a:ext cx="57531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37999-BDBB-407D-AF39-7F8D80F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POINT SOLUTIONS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950DF-E2C1-4EFD-8385-9EF3E9C2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4648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기획·이미지·영상·음성·SNS가</a:t>
            </a:r>
          </a:p>
          <a:p xmlns:a="http://schemas.openxmlformats.org/drawingml/2006/main">
            <a:pPr algn="l">
              <a:defRPr sz="2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서로 다른 도구와 파일에 흩어집니다.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CBCE5-C3C1-44D9-84EA-54A00AC0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5B927-1485-4AA3-8B7B-1B54BF4B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브랜드 규칙과 프로젝트 문맥을 매번 다시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A2E27-AD7D-419A-B919-5926BFF6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A61BA-79DB-4AF5-806E-65AC47A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실패한 한 장면 때문에 전체 공정을 되돌림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DFC87-CDD1-4488-8E7E-C6207C1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38ED4-C3F1-48F0-9EDF-7D25BB2A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배포 이후 성과가 다음 제작에 연결되지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CB7E1-905E-4BC0-AF95-1B93529E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OPERATING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AED5D-FE90-412C-936B-E9A894C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시간은 창작보다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복사·이동·재작업에 소모됩니다.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0195-ED8B-47EE-97F1-486BC95D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B2971-467C-428F-93C2-D17F062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7670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문맥 단절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076C-D822-4321-9122-96B9C89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9C8F0-4255-4F43-AD7F-87F3B9D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72694-E478-49DE-8CB0-9AD5DCC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8627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48923-6723-4F27-9935-23CE8086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B20E4-DE79-4568-A55F-0A1EF8C9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244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EB0CA-17F9-4AC3-8507-9284D27D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895850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실패 복구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B1283-2F87-4E56-9E08-EE4B1D0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C2AFE-9157-406B-9990-DA6E9E4E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BF19A-75CA-4BA1-93FF-8CDD8816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054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 반복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45B44-09F9-4CB4-8745-D6274C1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578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8320C-9F0A-4144-9B65-F1510E12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78C60-E71A-4238-87FD-40C81A0C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863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8AD36-180F-4D2B-BF5D-EE1B2832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16BCA-478D-449B-969C-D11273F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1625"/>
            <a:ext cx="10287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8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NK AI Studio는</a:t>
            </a:r>
          </a:p>
          <a:p xmlns:a="http://schemas.openxmlformats.org/drawingml/2006/main">
            <a:pPr algn="l">
              <a:def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제작툴이 아니라</a:t>
            </a:r>
          </a:p>
          <a:p xmlns:a="http://schemas.openxmlformats.org/drawingml/2006/main">
            <a:pPr algn="l">
              <a:def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Creator Operating System입니다.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AF51A-607C-4067-8DF0-5FC65B8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0125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C5229-E0E5-48EA-ACC5-9413F2A6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Project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C0243-704B-4DCB-824E-9006BB38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67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제작·운영·배포·분석이 같은 브랜드 문맥을 공유합니다.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93249-0022-4DF9-85CB-F37B1E8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Control, not black 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9DE39-2C9E-4E1C-9303-89B05250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AI가 자동화하되, 사용자는 씬과 규칙을 직접 통제합니다.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03311-6210-4F56-BCDD-B2A6289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752B0-E987-434B-90DF-F09B8653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5189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DBA7AB-E7AD-4C37-834F-7B8902A1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ONE CONNECTED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099D1-B94D-4630-982B-8270D043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한 번 입력한 문맥이 제작부터 학습까지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A59B6-392E-4DBA-A61B-6E158E1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E83F3-90E8-4F77-92A8-0AE4729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859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4D4EB-CA9D-4086-9C7C-76FDF99D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487BF-5190-4F44-8827-F9B6F3E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0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3ACBF-9821-45B3-B859-9CE2FFC1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383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주제·타겟·목적·톤·브랜드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519E2-4BE6-4CD3-81DB-87E71300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66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현재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9DF1F-A3DA-4189-B3AA-B039B377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A0B54-D031-4348-A70A-E5310F5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622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7F35C-5D6D-4AF1-B20A-B495FDB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05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SCENARIO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FBAA9-7ACA-4061-9545-A6B4EE26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431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씬 역할과 샷 구조로 변환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6AD01-DE09-4D10-9E67-2722CCD5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71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현재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B2F7-FFF4-405E-92D6-C101F72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D5457-C9BF-4DAF-89AA-2A6EE96B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670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EED17-5255-4AFC-94A6-5DE0EE59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CREATE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224D9-A7B2-4FF1-8F01-679D23BC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480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이미지·영상·음성을 씬 단위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D3BE2-4A1B-4A96-A49C-4E675D3D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2766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현재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76EFB-3FF2-44BC-B5A4-3B4B33F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4A66D-4196-4953-839C-C0E4AC54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719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63BD7-E578-4E14-BD78-1E271124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EDIT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59F6D-514E-4A31-8131-C742B931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52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타임라인·자막·전환·렌더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FC549-4048-4293-BFC5-64321D5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81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현재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EC8F3-01A0-45DF-84BE-EE7C8BCB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4B99D-B51A-4D78-944F-970CD034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21552-898C-4B38-B6F1-C5A65F22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9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PUBLISH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B78C1-2E72-4C83-84F9-92C67FE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577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채널별 콘텐츠와 게시 흐름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F56F5-A3D0-4933-8263-172C81A6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863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확장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5A02D-CFB5-4EBC-B779-6D329291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F93EB-1D8E-4E51-A8F6-67756EC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83479-D65B-40CA-A32C-ECEA220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244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LEARN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8CD364-AD44-4DFB-8EC5-9DD8F282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3625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반응 데이터를 다음 전략에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21A6C-B3A9-422C-A64E-1C299A0A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3911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확장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D2AFFF-DC75-48E3-8C4C-8587E59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65A320-D4FC-4E5D-87F6-A85EF22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D6CD14-2F2B-45E7-974D-8797D32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3316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342CC-F102-4B96-AF02-3AB32322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CORE UX ·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9E1E8-1C5D-4932-91FB-C977E784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개요를 ‘참고값’이 아닌 ‘생성 계약’으로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DFE12-3AA4-484B-A388-15B87CF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266EF-C679-4FD1-A503-A91B429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452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장르·세부 장르·타겟·목적·길이·톤·스타일이 결과의 씬 구조와 문장에 실제로 반영됩니다.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344E5-965F-4357-BAA6-60C6528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5AAE1-6095-461E-B3D5-149A64A3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31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동일 주제라도 조건에 따라 전개가 달라지는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1783B-678C-4682-9667-A4A49C71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3E8CF-2029-4CF6-A5D6-2B31A84F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31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15·30·45초 길이별 씬 블루프린트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2C186-7623-4054-A319-CC9B9B0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1AD4A-A231-4E50-8F14-A85E7926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31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브랜드 규칙과 금지 표현을 최우선 제약으로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ED96C-D1BE-434F-A066-B8FA7F2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화면: 실제 NK AI Studio 시나리오 개요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91EAC-A6D7-466E-9FFB-1D0823D0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65341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9525">
            <a:solidFill>
              <a:srgbClr val="090A0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c59cc519d4b07"/>
          <a:srcRect xmlns:a="http://schemas.openxmlformats.org/drawingml/2006/main" l="6546" t="0" r="65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676400"/>
            <a:ext cx="6534150" cy="4229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A3BE4-FAB0-4F37-A9D6-3A6D0335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E9680-9C4E-48DD-B4EE-B0A548C2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1483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B092B-A6A3-4C9F-86DC-E1F8325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TECHNICAL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CFEBA-E2EF-4B7F-846D-183D164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생성 품질은 프롬프트 한 줄이 아니라 4단계 게이트로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FBC47-744C-4130-80C3-CB6158E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D5182-9FDA-4847-83E3-BDB88316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24025"/>
            <a:ext cx="5467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BDC3E-55FA-4BD7-A700-FF424231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5C867-04F3-4EB9-AC23-07076399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Scenario Spec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893B7-CFD8-4D5A-A727-332F2B8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주제 해석과 장르·타겟·목적·톤 규칙을 구조화합니다.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5095A-56C4-424A-9F20-B5DAAE8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24025"/>
            <a:ext cx="5467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FFD1-13E5-46C9-BFF3-36BCAC4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F3E97-F274-42C9-BC47-A2B37C2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Scene Blueprint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02D44-89EC-4273-BD22-BD4AC3B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모델 호출 전 씬별 역할과 정보량을 먼저 고정합니다.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ADE72-1096-4C00-BFD5-81A5BB42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5467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C4A54-5DA4-469C-8B04-C9F30763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75F02-5D42-4626-A67B-6B6E68D3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Quality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0752C-5F06-4430-A541-D4EA1E86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주제·목적·톤·길이 적합도를 생성 직후 검사합니다.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DC39C-1C9C-4996-8009-C0329E5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00475"/>
            <a:ext cx="5467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A098C-64D9-49B3-8C20-CC21C3A5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DF409-A0E4-417E-A93A-379B99D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Selective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6A983-5F56-4F96-AF0B-6E476A90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91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문제 씬만 교정하거나 개요 기반 폴백으로 복구합니다.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71553-6B7E-43C6-AFA4-7C9B36B7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차별점: 입력을 ‘전달’하는 것이 아니라, 결과가 통과해야 할 계약과 검증 기준으로 승격합니다.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92820-4A9D-41B8-AB08-FD54AEB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15CE5-988F-4402-B00C-E9CA165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0656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F54B3-B7F2-43DB-8160-7DA0306B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SCENE-LEVEL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72CD8-6F6F-49AA-A6F8-0E6ACFE8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자동화하되, 비용과 품질은 씬 단위로 통제합니다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AD3DB-201F-4286-9999-1AF5D26A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6A69F-5B4B-4C8B-8765-C92EB97C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572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0b29313814096"/>
          <a:stretch xmlns:a="http://schemas.openxmlformats.org/drawingml/2006/main"/>
        </p:blipFill>
        <p:spPr>
          <a:xfrm xmlns:a="http://schemas.openxmlformats.org/drawingml/2006/main">
            <a:off x="400050" y="1913930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BDF1-C9EB-48CC-A3A8-AF09688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화면: Voice·SFX 생성과 세그먼트 제어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924b3e00a446c"/>
          <a:stretch xmlns:a="http://schemas.openxmlformats.org/drawingml/2006/main"/>
        </p:blipFill>
        <p:spPr>
          <a:xfrm xmlns:a="http://schemas.openxmlformats.org/drawingml/2006/main">
            <a:off x="7381875" y="17907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4CAF7-551C-4B02-AF7B-02B08CC1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C2600-7CC8-4742-AC20-F572ED8F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02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프롬프트 편집·재생성·인페인팅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096D6-525A-413A-ADFB-775F29CB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38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75d2017747ce"/>
          <a:stretch xmlns:a="http://schemas.openxmlformats.org/drawingml/2006/main"/>
        </p:blipFill>
        <p:spPr>
          <a:xfrm xmlns:a="http://schemas.openxmlformats.org/drawingml/2006/main">
            <a:off x="7381875" y="299085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CF8B6-FF07-44DA-B2E0-9E9609B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384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VIDEO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7F584-4AFB-442E-A0B2-B40E244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04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씬별 생성·상태 확인·선택적 재시도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B5EFA-EA07-4891-8366-036BE948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386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e6badda424886"/>
          <a:stretch xmlns:a="http://schemas.openxmlformats.org/drawingml/2006/main"/>
        </p:blipFill>
        <p:spPr>
          <a:xfrm xmlns:a="http://schemas.openxmlformats.org/drawingml/2006/main">
            <a:off x="7381875" y="41910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18654-3DD2-4526-B0A0-4F8B2D66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VOICE / SFX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5197E-0382-486A-B73B-AD9B7B0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005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보이스·감정 태그·출력 포맷 제어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4C322-E939-4E3A-9D82-3BA410CF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67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실패한 자산만 다시 만들 수 있어</a:t>
            </a:r>
          </a:p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전체 공정의 재작업을 줄입니다.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E1266-3859-4508-BF39-9410B875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76C63-4402-4A06-B4F1-6A3A1D8C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1479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0969D-17E1-44DF-A8F7-01F8A1C8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BRAND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7437-2049-40FC-BC6E-98A6491A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완성된 콘텐츠는 Brand Studio에서 바로 운영 자산이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7FEAE-286C-4B30-AEC5-97A4192F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9A407-BD59-4256-89AE-4DA808F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Project 문맥을 유지한 채 채널별 변형·게시·분석으로 이어지는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CAF49-FC48-4A5D-B6F9-79FE243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50ACD-1A08-4558-8118-B18D33F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622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Brand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79F95-FABF-4868-9F37-6CFF724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908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브랜드 보이스·금지 표현·참조 자산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78774-A771-4446-BD7F-B56274D6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727FF-6588-40CF-8F28-2607A59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051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Channel 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A25C5-E185-4D7A-8BE3-44DC956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플랫폼별 캡션·해시태그·포맷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7FD7C-A3BB-4C12-A864-763353C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A871F-2B5C-4AD1-8F64-237346E6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Publish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87310-00F2-48DA-B958-0418A19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767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채널 연결·게시·예약·실패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94B1A-FBF0-4BA2-9196-574B76D5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D15DE-19D1-4AAF-9FE0-4633397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166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66B28-1CDF-48BF-BD43-4EF0C3AD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채널·유형·업로드 시간 성과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7F153-1DE5-4447-B107-303F03E3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76400"/>
            <a:ext cx="62293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9525">
            <a:solidFill>
              <a:srgbClr val="090A0C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f99c0d1d34f4c"/>
          <a:stretch xmlns:a="http://schemas.openxmlformats.org/drawingml/2006/main"/>
        </p:blipFill>
        <p:spPr>
          <a:xfrm xmlns:a="http://schemas.openxmlformats.org/drawingml/2006/main">
            <a:off x="5562600" y="2038945"/>
            <a:ext cx="6229350" cy="350400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81BD4-39BA-4812-A31E-0D8FD6AA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991225"/>
            <a:ext cx="614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화면: Instagram·YouTube·TikTok·Threads·X·Facebook 등 채널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A6EC8-8616-4A17-B8BF-A41EA96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D9D98-4081-40FA-A74C-7012069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2625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6F6773-877F-4C61-B1FC-8FE12127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MODULAR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417F0-7AE1-44D1-9128-A099A6C1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멀티모델은 기능이 아니라 교체 가능한 실행 레이어입니다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FA3A4-7F14-42F0-8216-46CDAB3F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7774F-45E4-486F-A1B4-FB4A521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3581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92F49-2C58-489B-94BE-CFC343F8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3BBC7-8F95-40A8-A47B-CE544B6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77965-4F56-4331-A84F-83DCF2E4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355C8-F8AD-47EB-88AB-73A0A462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Project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5EBCF-F7AF-4F7C-BD49-38A0BF8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D7427-CCCE-4EB4-8E66-80C64EFB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Scenario 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E89A6-C1B9-456F-B441-F44924A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73337-123F-4709-A283-2704003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Brand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5431F-2B45-4F60-B646-B57CE866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CD0B6-26E2-4444-B231-418D4031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Job / Cost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A98E5-D703-474C-BB73-286BA2C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57375"/>
            <a:ext cx="3581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97AA7-4F7B-4896-9C1A-E2A8C216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687A8-EAD6-4B6A-9C5E-528F777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MEDIA ENGINES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A458C-FE31-4435-92DB-B56B3DC6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242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38C1F-6116-47E7-BB3D-E6CDF32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289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Claude · 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493A3-3F49-4E00-836F-FE4BE043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671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7EC68-0EE5-414B-AAB3-2A5F2900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OpenAI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745D0-6884-425B-B18B-A067D9AD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BC287-5FBB-474A-8D58-80F0ABF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148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Veo · Grok · Kling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C5E2A-58AA-44F3-8EDE-6BB450D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5297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46E89-F1F8-4BE2-8C50-0EE5A501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Gemini TTS · ElevenLabs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AA8263-A22D-4C44-AD2B-535B9B66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57375"/>
            <a:ext cx="3581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1B5F2-20DF-432C-BFC0-92EC30D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D8D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29505-87D9-45CC-B8DE-40B72CB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1356D7-4D0E-480E-8CF4-42080467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66813-41D3-460F-ADEA-CAC1DDB1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Content Library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9D65F8-B7A3-44A8-8ABB-2E9F5D8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374C2-8D15-4609-AC36-484379C7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SNS 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6C23F-2D9F-43EF-B5DF-B171CFE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00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9116D6-9690-466C-8B2A-9499F659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148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Analytics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47AAE3-4E33-4440-923A-CAFA52A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52975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C9F98-EC01-4E8A-9CEB-C4679334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AI Agent Extension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4C6079-1262-421F-A534-B9D3B31B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효과: 공급자 변경, 장애 복구, 비용 최적화가 제품 전체를 흔들지 않도록 경계를 분리합니다.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811E3-C7A1-4DE6-B721-81C80C3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AC153-A1A3-4ACB-9948-DB2D21E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9883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862E5-FEAB-4C79-AF86-B42AF628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EXECUTION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B4788-B0CE-4EED-9065-5686E83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1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제품은 이미 검증 가능한 소프트웨어 자산으로 축적되고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3B14-1379-4486-A679-4EB5071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B4E9E-F445-4116-AD3F-A541EE32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아래 수치는 매출이 아니라 2026.08.08 기준 저장소의 구현·검증 자산입니다.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C0FE-9E4E-422C-A101-F31E1B5C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EECE6-7718-4A12-8E12-58152A57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D89F7-FC39-4A44-B7C8-021A406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자동화 테스트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0525A-A430-44E7-8257-CA2F51BB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시나리오·미디어·브랜드·SNS·에이전트 회귀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85F25-F691-48C2-B721-E4A1DAB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57475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B10FF-A2FF-437D-9800-BF968EE5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165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35F51-853F-4DD0-8461-AABC64E2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API 소스 모듈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AF1A0-AD25-4EB8-B020-90BA07F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291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생성·저장·배포·분석·에이전트 실행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4DB50-109D-4D26-82E0-919BCB3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BA78E-A597-4104-80C0-6D163D1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81325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56BDC-407C-4E76-8F35-02B19AA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제품 HTML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5F4CE-3F19-408A-84C6-A0B7C55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291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Creative·Brand·관리·지원 화면의 실제 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FC89C4-AF1E-48A1-9DE2-C2C28E43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2E709-603D-4D08-A67E-5EAC153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6090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43E8B7-7795-47D5-B183-55A7554F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COMPETITIVE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EDD6E-2307-4307-89B1-E5E5E224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경쟁력은 ‘문맥·제어·운영’의 결합에서 나옵니다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8EBF-C54F-4329-8753-EC4CE56C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082CF-BA89-486A-BC23-BFEE901E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CB3A3-6B42-4279-A7C8-E1815FE7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판단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97039-FCBD-4FD6-B819-512F06CB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2333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64C66-D8D7-4599-8F84-D9B36447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57375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범용 생성툴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18D23-1239-48A1-A3F5-90C8DEC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695450"/>
            <a:ext cx="2333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CE78A-A1A7-42E9-B924-45CA6CC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단일 기능 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42338-3368-4AC0-BF9E-694116A2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2743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EACFD-1536-4173-A198-F0A3A03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NK AI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25455-AC5E-4404-A806-4E06611C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000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97694-E3EC-4235-B343-DF032F2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개요 조건을 생성·검증 계약으로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F1C0D-E812-4F75-ADEB-B4DD859A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4CA2-162E-4B85-B9C5-4F72373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860CE-3681-4ED1-8FBB-47C093B0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8600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7E70D-8235-47FE-B6CB-5E604599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6697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0C720-B10D-4C30-8DA3-0124E48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2743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1A71F-0422-4F9B-8530-59E9540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6697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860DA-879F-476A-AFAD-58A38BF2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4000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A21EE-6243-42D4-AF1A-4A3BFEFE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씬 단위 자산 재시도와 수동 교체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70426-8613-49C7-A4E3-6695865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8132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91A36-BBEC-43B6-BAE7-C72F86D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1B795-4829-4A95-A1F3-7A4C1E2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8132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BD6F8-2137-4247-9586-7928E3B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6230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0D707-7F34-4CF4-825A-3237269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81325"/>
            <a:ext cx="2743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A6C5B-AD5B-4C2E-BECF-CF0C29C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6BDEF-692C-4C5F-ADA1-5B3B0DB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000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7D553-94C7-401F-9654-3359090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브랜드 문맥과 금지 표현의 지속 보존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DD7AB-C205-4532-9343-E6EF3464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7A8AB6-7336-44FA-B72A-EFEB522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9BA9B-416F-4B16-8C59-8D32AF95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7665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5618C4-E94B-47B1-8F71-E1C4B8A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411B21-3A46-458F-B5C4-5E5FEAF3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743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43E53-2AC2-4B3F-AE89-07167B19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CC063F-B4CE-4501-BC88-A270E56A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71975"/>
            <a:ext cx="4000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0AD39-F45F-4744-8FBB-8C2F20E5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제작 → 채널 배포 → 분석 연결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33399-C36F-41FC-94E3-EC1CFBB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71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752ED0-FEB1-4505-AA80-6AEB802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29D2BA-8F69-4031-95B2-4E9E2F0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4BCD1F-A661-4346-98CD-8D4B3C08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529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F79EDA-CB05-413D-8737-EB6867A2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71975"/>
            <a:ext cx="2743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A2573-F13F-4E6F-B860-960B7AA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E67646-0CC5-466B-ADF8-518FFE8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000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E77CD3-AC76-470F-B7E4-0768E2D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멀티모델·에이전트 확장 구조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D8B2FE-687D-4503-ABCD-9B10D414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015EEC-89B0-48A2-9AAC-DC1F465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4827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1A3F21-4373-45FD-8500-9D219A1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06730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0FB2C0-E155-4C5C-A35D-6E6F5C51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48275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BF1E95-8598-4E1E-9455-4A27053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67300"/>
            <a:ext cx="2743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C831A9-DB05-4377-BAE5-F0ABA1AB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4827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66FB1F-2855-443A-985B-04798CE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● 강점  △ 부분 지원  ○ 구조 외부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7B9B14-C238-4970-B294-7CB2CC97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AB75E8-0C79-45CF-AB6E-97507E11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3187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A22682-0FC9-477F-8169-96ED53E2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PROPOSED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3537E-3A5B-478A-A4D0-979BFCE7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수익은 구독·구축·운영의 세 트랙으로 설계할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27B67-E917-4815-B4D7-D9A7BB3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1FDF7-9501-414E-83A4-E3174D5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6004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006AA-8B62-460D-8793-24BBB7F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B0FA3-C8A4-40B4-8475-09B53452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Creator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06665-1CF2-4E40-AB6C-A1B9B29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개인·소규모 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206AA-A32B-4430-A472-1FD0D38F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51BE2-A21A-487E-A92A-6F9B4C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월 구독 + 사용량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D651-6350-4CE8-873D-6A4096F0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E23A1-98FC-4359-B233-DD539A3D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Creative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F09CB-92F1-4FF1-9498-8DE70AC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48A59-F720-4281-8E87-48276712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Brand 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182CB-3C55-4600-B61A-55F204F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E5602-50F3-450F-9D0A-85CA3961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크레딧 기반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44267-F8A9-45ED-91AD-7660C9B9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6004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B87E1-C0E6-4422-A726-3292BFAB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9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F760C-C6DF-4D64-9135-82F8F919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B2B Build &amp; License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E2CA5-F593-4E19-9246-BCA64478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브랜드·제작사·기관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9E91E-3DAB-4BEF-9CCC-4FE8F2F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433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AE229-486C-4B05-BBA8-194F077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PoC + 구축 + 라이선스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92170-4AFA-4F1F-9649-88F57A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6EF8B-41D9-4BF2-AC1F-8B76A4F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148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워크플로 커스터마이징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0498A-5E13-401D-A9A7-12756C87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37875-D1AD-470A-A0BD-0A293BC8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149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전용 모델·스토리지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E5CF5-8B2C-4498-9A65-7E4B5D45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00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9E2E0-69B2-4D20-B3D8-DC77675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운영 교육·유지보수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55050-E914-4ABB-B0CC-3A7A4B39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6004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EA5C1-B81D-4DDA-B753-76117517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9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69A8A-E3C3-4223-A6DB-F9246F7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Managed Production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9BE79-F50C-4F9A-8BDB-BB57100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캠페인·반복 콘텐츠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E7AD5-0A8B-4845-AE23-5C840A0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43325"/>
            <a:ext cx="310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025F1B-E882-4462-A8ED-E9D8C8DD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프로젝트·월 운영 계약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49C89-A6AE-44E9-9748-2B8D984E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6E22B7-3972-4832-8C5F-167947C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콘텐츠 패키지 제작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4A5D2-4C07-4D67-BBAF-138BB87F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A20EFC-00A8-4B66-B9CB-62C0ABE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149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채널별 변형·게시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AF2CE9-79E3-4FD3-A0F3-9A8155B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00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F14D45-51AF-46DB-A28E-4043492C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149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성과 리포트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943DA-899E-4F18-B4F0-9EDB075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912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※ 가격과 단가표는 고객군별 비용 구조·모델 사용량·SLA를 확인한 뒤 산정합니다.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CF7A56-D07C-46FE-9DE6-24A6E07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B1B234-5996-4043-BE90-FC045A9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51147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5404D-C0F3-4437-9091-439D8FAC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573AD-42D6-45EA-AE37-71AF994A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72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가장 빠른 진입점은 반복 제작이 이미 발생하는 고객입니다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42681-7AB1-4AF9-B3A2-032D418A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04D6F-DF23-4831-AD53-888EB04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CREATOR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F41E5-F5D7-4A5A-A218-663E018B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숏폼·교육·인플루언서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D6D7C-E39B-4896-B107-1F109D9C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52775"/>
            <a:ext cx="352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4352E-89A6-486A-AC8C-5FE61F20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고객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7A0AB-D454-472A-93D0-86E33D54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반복 제작 시간을 줄이고 브랜드 일관성을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0820A-F92D-4A87-A1E1-13D2F1E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진입 상품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F3617-3418-4860-A412-1D5E3B26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셀프서비스 구독 · 온보딩 패키지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FAA13-32E7-4488-96AC-7342435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D4DC3-DF7F-4F82-B36F-FC9F3DF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영상 제작사·마케팅 대행사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A2776-C567-4D23-B3FD-B812A8B8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52775"/>
            <a:ext cx="352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C65EB-3D77-4780-A1F6-F9BA126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고객 문제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6A95C-2C91-4BA9-9420-1A25C621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814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다수 프로젝트의 수정·실패·납기를 구조적으로 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BF059-4470-4E53-A8D6-7D20AD90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33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진입 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28A12-33DE-4863-A772-6482AD1F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054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PoC · 전용 워크플로 구축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B7EDB-93D9-41FF-B785-ECF307A5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BRAND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900AD-8C22-4FC4-BF2D-8D19C66F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524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사내 마케팅·커머스 조직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1F313-9892-463E-94D3-12951A7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3524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F3E67-221E-40FF-BC3D-47301C36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고객 문제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7039E-D306-42CF-83F5-59A466F4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81425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제작 결과를 채널 운영과 성과 분석까지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EAC2D-BF69-4DEF-93AE-FD840BE1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진입 상품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0DE39-3997-4E0E-B736-BF6C9147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0542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라이선스 · 운영 대행 · 유지보수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EE377-58D9-49D8-AEB7-0F0C3AF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NK AI Studio · Confidential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63535-3538-499C-BC7D-1317705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055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197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A2BF0-2A6A-46F1-A5E1-E1382ACE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PARTNERSHIP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88D82-3F3B-44D5-950C-E3D3D53A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0572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이제 ‘생성 데모’를 넘어</a:t>
            </a:r>
          </a:p>
          <a:p xmlns:a="http://schemas.openxmlformats.org/drawingml/2006/main">
            <a:pPr algn="l">
              <a:def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반복 가능한 콘텐츠 사업을</a:t>
            </a:r>
          </a:p>
          <a:p xmlns:a="http://schemas.openxmlformats.org/drawingml/2006/main">
            <a:pPr algn="l">
              <a:def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함께 만들 차례입니다.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3242B-3619-43F9-8EE7-D645C80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95775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7989B-E602-4E79-96E8-441C96A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958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22333-1152-4A94-9996-6D78746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958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전략적 투자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523C0-BD86-441A-8872-D350AA2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626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제품 안정화·상용 운영·시장 검증 가속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8F235-91F8-40B2-A5A4-3B315A15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3F3F2-C950-42A7-B569-CBE2FBD6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958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유료 PoC / 용역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90C0B-09DB-4A92-826C-DC8698E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고객사의 반복 제작 공정을 NK 워크플로로 전환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82E78-CCBE-4FA8-94E1-F6C78BEC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7A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26E1E-A453-46D1-8E2E-28ECABB4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기술·채널 파트너십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87F14-9C08-4942-AF8D-B47C3C3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F5560"/>
                </a:solidFill>
                <a:latin typeface="Noto Sans KR"/>
                <a:ea typeface="Noto Sans KR"/>
                <a:cs typeface="Noto Sans KR"/>
              </a:rPr>
              <a:t>모델·스토리지·배포·산업별 템플릿 공동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4E808-170F-4D3E-B52F-2BB3F483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90A0C"/>
                </a:solidFill>
                <a:latin typeface="Noto Sans KR"/>
                <a:ea typeface="Noto Sans KR"/>
                <a:cs typeface="Noto Sans KR"/>
              </a:rPr>
              <a:t>NK AI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4CA24-96E4-4B6E-BC24-C9AEEEB2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03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B818C"/>
                </a:solidFill>
                <a:latin typeface="Noto Sans KR"/>
                <a:ea typeface="Noto Sans KR"/>
                <a:cs typeface="Noto Sans KR"/>
              </a:rPr>
              <a:t>Investment · PoC · Service</a:t>
            </a:r>
          </a:p>
        </p:txBody>
      </p:sp>
    </p:spTree>
    <p:extLst>
      <p:ext uri="{BB962C8B-B14F-4D97-AF65-F5344CB8AC3E}">
        <p14:creationId xmlns:p14="http://schemas.microsoft.com/office/powerpoint/2010/main" val="1333583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2026-08-08T07:23:40.5680000Z</dcterms:created>
  <dcterms:modified xsi:type="dcterms:W3CDTF">2026-08-08T07:23:40.5680000Z</dcterms:modified>
</coreProperties>
</file>